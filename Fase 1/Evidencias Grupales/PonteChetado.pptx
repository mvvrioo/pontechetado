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Gelasio" panose="020B0604020202020204" charset="0"/>
      <p:regular r:id="rId13"/>
    </p:embeddedFont>
    <p:embeddedFont>
      <p:font typeface="Lato" panose="020F0502020204030204" pitchFamily="34" charset="0"/>
      <p:regular r:id="rId14"/>
    </p:embeddedFont>
    <p:embeddedFont>
      <p:font typeface="Lato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7025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333327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PonteChetado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207445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Aplicación móvil de gestión y gamificación del entrenamiento físico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3722489"/>
            <a:ext cx="3261735" cy="287139"/>
          </a:xfrm>
          <a:prstGeom prst="roundRect">
            <a:avLst>
              <a:gd name="adj" fmla="val 22118"/>
            </a:avLst>
          </a:prstGeom>
          <a:solidFill>
            <a:srgbClr val="E8E8E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774879" y="3779143"/>
            <a:ext cx="364451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CAPSTONE · INGENIERÍA EN INFORMÁTICA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61475" y="4222254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Mario Torres</a:t>
            </a: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· Profesor: Felipe Kraus · Sede Alameda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084461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¿Qué es PonteChetado?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1958578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Aplicación móvil que revoluciona la experiencia en el gimnasio combinando el registro de entrenamientos con un sistema de </a:t>
            </a:r>
            <a:r>
              <a:rPr lang="en-US" sz="14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gamificación</a:t>
            </a: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que motiva y fideliza a los usuarios.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3078460"/>
            <a:ext cx="3053877" cy="1404243"/>
          </a:xfrm>
          <a:prstGeom prst="roundRect">
            <a:avLst>
              <a:gd name="adj" fmla="val 5653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856832" y="3273822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Registro de rutinas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6832" y="3682504"/>
            <a:ext cx="26631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Series, repeticiones y pesos con seguimiento del progreso.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3904359" y="3078460"/>
            <a:ext cx="3053976" cy="1404243"/>
          </a:xfrm>
          <a:prstGeom prst="roundRect">
            <a:avLst>
              <a:gd name="adj" fmla="val 5653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/>
          <p:nvPr/>
        </p:nvSpPr>
        <p:spPr>
          <a:xfrm>
            <a:off x="4099715" y="3273822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Validación Premium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4099715" y="3682504"/>
            <a:ext cx="266326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 activa al pagar la membresía del gimnasio asociado.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61475" y="4671715"/>
            <a:ext cx="6296860" cy="1101824"/>
          </a:xfrm>
          <a:prstGeom prst="roundRect">
            <a:avLst>
              <a:gd name="adj" fmla="val 7205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856832" y="4867077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Valor diferencial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856832" y="5275759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Mejora la fidelización del cliente y alivia la carga de los entrenadores.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8304"/>
            <a:ext cx="10868745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Funciones Premium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825030"/>
            <a:ext cx="6925990" cy="39247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90084" y="1400870"/>
            <a:ext cx="415607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 validar la membresía, el usuario desbloquea:</a:t>
            </a:r>
            <a:endParaRPr lang="en-US" sz="12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51003" y="1804541"/>
            <a:ext cx="243576" cy="24358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517915" y="1799431"/>
            <a:ext cx="3018655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Rutinas personalizadas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8517915" y="2192734"/>
            <a:ext cx="3018655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Recomendaciones adaptadas a cada situación del usuario.</a:t>
            </a:r>
            <a:endParaRPr lang="en-US" sz="12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51003" y="2960142"/>
            <a:ext cx="243576" cy="24358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17915" y="2955032"/>
            <a:ext cx="3018655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Avatar interactivo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8517915" y="3348335"/>
            <a:ext cx="3018655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Evoluciona visualmente según el volumen de entrenamiento.</a:t>
            </a:r>
            <a:endParaRPr lang="en-US" sz="12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51003" y="4115743"/>
            <a:ext cx="243576" cy="24358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517915" y="4110633"/>
            <a:ext cx="3018655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Scoreboard Top 10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8517915" y="4503936"/>
            <a:ext cx="3018655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Ranking competitivo en tiempo real del recinto.</a:t>
            </a:r>
            <a:endParaRPr lang="en-US" sz="12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51003" y="5271343"/>
            <a:ext cx="243576" cy="24358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517915" y="5266234"/>
            <a:ext cx="3018655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IA + Asistencia</a:t>
            </a:r>
            <a:endParaRPr lang="en-US" sz="1550" dirty="0"/>
          </a:p>
        </p:txBody>
      </p:sp>
      <p:sp>
        <p:nvSpPr>
          <p:cNvPr id="16" name="Text 9"/>
          <p:cNvSpPr/>
          <p:nvPr/>
        </p:nvSpPr>
        <p:spPr>
          <a:xfrm>
            <a:off x="8517915" y="5659537"/>
            <a:ext cx="3018655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Consultas técnicas sobre ejercicios y botón para llamar a un entrenador.</a:t>
            </a:r>
            <a:endParaRPr lang="en-US" sz="12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55D7309-8DAC-5BBB-12C4-1272F5FEEC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5731" y="6329888"/>
            <a:ext cx="1600423" cy="4572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4394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Competencias del Perfil de Egreso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512616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El proyecto integra las competencias adquiridas durante los </a:t>
            </a:r>
            <a:r>
              <a:rPr lang="en-US" sz="14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7 semestres</a:t>
            </a: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de la carrera.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027660"/>
            <a:ext cx="3496877" cy="228629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96410" y="3169444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75881" y="3783608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Desarrollar software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75881" y="4192290"/>
            <a:ext cx="306806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Construcción del frontend y backend aplicando todo lo aprendido.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7359" y="3027660"/>
            <a:ext cx="3496877" cy="228629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82294" y="3169444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4561766" y="3783608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Modelos de datos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4561766" y="4192290"/>
            <a:ext cx="306806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Diseño de base de datos relacional y escalable para rutinas, pesos y progreso.</a:t>
            </a:r>
            <a:endParaRPr lang="en-US" sz="1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244" y="3027660"/>
            <a:ext cx="3496877" cy="228629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68179" y="3169444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8247650" y="3783608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Gestión de proyectos</a:t>
            </a:r>
            <a:endParaRPr lang="en-US" sz="1850" dirty="0"/>
          </a:p>
        </p:txBody>
      </p:sp>
      <p:sp>
        <p:nvSpPr>
          <p:cNvPr id="15" name="Text 10"/>
          <p:cNvSpPr/>
          <p:nvPr/>
        </p:nvSpPr>
        <p:spPr>
          <a:xfrm>
            <a:off x="8247650" y="4192290"/>
            <a:ext cx="306806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Planificación del ciclo de vida, decisiones de arquitectura y validación de calidad.</a:t>
            </a:r>
            <a:endParaRPr lang="en-US" sz="14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E014FF8-DCF7-0FCF-BDA3-7263A8679F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503" y="6368576"/>
            <a:ext cx="1600423" cy="4572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442839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Intereses Profesionales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2316956"/>
            <a:ext cx="6296860" cy="3098205"/>
          </a:xfrm>
          <a:prstGeom prst="roundRect">
            <a:avLst>
              <a:gd name="adj" fmla="val 2562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2"/>
          <p:cNvSpPr/>
          <p:nvPr/>
        </p:nvSpPr>
        <p:spPr>
          <a:xfrm>
            <a:off x="667825" y="2323306"/>
            <a:ext cx="3142080" cy="1693962"/>
          </a:xfrm>
          <a:custGeom>
            <a:avLst/>
            <a:gdLst/>
            <a:ahLst/>
            <a:cxnLst/>
            <a:rect l="l" t="t" r="r" b="b"/>
            <a:pathLst>
              <a:path w="3142080" h="1693962">
                <a:moveTo>
                  <a:pt x="66156" y="0"/>
                </a:moveTo>
                <a:lnTo>
                  <a:pt x="3142080" y="0"/>
                </a:lnTo>
                <a:lnTo>
                  <a:pt x="3142080" y="1693962"/>
                </a:lnTo>
                <a:lnTo>
                  <a:pt x="0" y="1693962"/>
                </a:lnTo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E8E8E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856832" y="2512318"/>
            <a:ext cx="276406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Desarrollo Full-Stack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6832" y="2921000"/>
            <a:ext cx="276406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Construir un sistema completo desde cero, enfrentando problemas reales.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3809905" y="2323306"/>
            <a:ext cx="3142080" cy="1693962"/>
          </a:xfrm>
          <a:custGeom>
            <a:avLst/>
            <a:gdLst/>
            <a:ahLst/>
            <a:cxnLst/>
            <a:rect l="l" t="t" r="r" b="b"/>
            <a:pathLst>
              <a:path w="3142080" h="1693962">
                <a:moveTo>
                  <a:pt x="0" y="0"/>
                </a:moveTo>
                <a:lnTo>
                  <a:pt x="3075924" y="0"/>
                </a:lnTo>
                <a:arcTo wR="66156" hR="66158" stAng="16200000" swAng="5400000"/>
                <a:lnTo>
                  <a:pt x="3142080" y="1693962"/>
                </a:lnTo>
                <a:lnTo>
                  <a:pt x="0" y="1693962"/>
                </a:lnTo>
                <a:lnTo>
                  <a:pt x="0" y="0"/>
                </a:lnTo>
                <a:close/>
              </a:path>
            </a:pathLst>
          </a:custGeom>
          <a:solidFill>
            <a:srgbClr val="E8E8E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Shape 6"/>
          <p:cNvSpPr/>
          <p:nvPr/>
        </p:nvSpPr>
        <p:spPr>
          <a:xfrm>
            <a:off x="3809905" y="2323306"/>
            <a:ext cx="25399" cy="1693962"/>
          </a:xfrm>
          <a:prstGeom prst="roundRect">
            <a:avLst>
              <a:gd name="adj" fmla="val 50001"/>
            </a:avLst>
          </a:prstGeom>
          <a:solidFill>
            <a:srgbClr val="CECEC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3998912" y="2512318"/>
            <a:ext cx="276406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Arquitectura de Sistemas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3998912" y="2921000"/>
            <a:ext cx="276406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Diseñar una solución tecnológica escalable y robusta.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67825" y="4017268"/>
            <a:ext cx="6284160" cy="1391543"/>
          </a:xfrm>
          <a:custGeom>
            <a:avLst/>
            <a:gdLst/>
            <a:ahLst/>
            <a:cxnLst/>
            <a:rect l="l" t="t" r="r" b="b"/>
            <a:pathLst>
              <a:path w="6284160" h="1391543">
                <a:moveTo>
                  <a:pt x="0" y="0"/>
                </a:moveTo>
                <a:lnTo>
                  <a:pt x="6284160" y="0"/>
                </a:lnTo>
                <a:lnTo>
                  <a:pt x="6284160" y="1325385"/>
                </a:lnTo>
                <a:arcTo wR="66156" hR="66158" stAng="0" swAng="5400000"/>
                <a:lnTo>
                  <a:pt x="66156" y="1391543"/>
                </a:lnTo>
                <a:arcTo wR="66156" hR="66158" stAng="5400000" swAng="5400000"/>
                <a:lnTo>
                  <a:pt x="0" y="0"/>
                </a:lnTo>
                <a:close/>
              </a:path>
            </a:pathLst>
          </a:custGeom>
          <a:solidFill>
            <a:srgbClr val="E8E8E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Shape 10"/>
          <p:cNvSpPr/>
          <p:nvPr/>
        </p:nvSpPr>
        <p:spPr>
          <a:xfrm>
            <a:off x="667825" y="4017268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CECEC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1"/>
          <p:cNvSpPr/>
          <p:nvPr/>
        </p:nvSpPr>
        <p:spPr>
          <a:xfrm>
            <a:off x="856832" y="4206280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Gestión de Proyectos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856832" y="4614962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Transformar un problema cotidiano en un producto de software funcional e implementable.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2918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Factibilidad del Proyecto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792313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Facilitadores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3276600"/>
            <a:ext cx="5203794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 meses de desarrollo disponibles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Recursos propios: computador, internet, herramientas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Conocimiento técnico adquirido en la carrera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196651" y="2603302"/>
            <a:ext cx="5476043" cy="2525514"/>
          </a:xfrm>
          <a:prstGeom prst="roundRect">
            <a:avLst>
              <a:gd name="adj" fmla="val 5389"/>
            </a:avLst>
          </a:prstGeom>
          <a:solidFill>
            <a:srgbClr val="E5E5E0">
              <a:alpha val="95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6385658" y="2792313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Obstáculo y solución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385658" y="3276600"/>
            <a:ext cx="5098029" cy="1682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Actualmente cursa práctica profesional y trabaja los fines de semana.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Solución:</a:t>
            </a: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La metodología ágil permite fraccionar el desarrollo en entregables pequeños, gestionando las horas libres con alta eficiencia sin comprometer la calidad.</a:t>
            </a:r>
            <a:endParaRPr lang="en-US" sz="14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419D9CA-5B55-EF2B-BF31-25CEEC217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577" y="6400736"/>
            <a:ext cx="1600423" cy="4572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8363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Objetivos del Proyecto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944936" y="1964928"/>
            <a:ext cx="1058528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Desarrollar e implementar una app móvil funcional para la gestión, monitorización y gamificación del entrenamiento físico, integrada con validación de membresías de gimnasios.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1752302"/>
            <a:ext cx="25399" cy="1030089"/>
          </a:xfrm>
          <a:prstGeom prst="roundRect">
            <a:avLst>
              <a:gd name="adj" fmla="val 50001"/>
            </a:avLst>
          </a:prstGeom>
          <a:solidFill>
            <a:srgbClr val="E5E5E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61475" y="2995017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01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3290888"/>
            <a:ext cx="3496877" cy="25400"/>
          </a:xfrm>
          <a:prstGeom prst="rect">
            <a:avLst/>
          </a:prstGeom>
          <a:solidFill>
            <a:srgbClr val="E5E5E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661475" y="3436144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Base de datos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61475" y="3844826"/>
            <a:ext cx="349687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Registro y persistencia del progreso físico.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347359" y="2995017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02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347359" y="3290888"/>
            <a:ext cx="3496877" cy="25400"/>
          </a:xfrm>
          <a:prstGeom prst="rect">
            <a:avLst/>
          </a:prstGeom>
          <a:solidFill>
            <a:srgbClr val="E5E5E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4347359" y="3436144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Validación Premium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4347359" y="3844826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Activación de funciones al comprobar el pago.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033244" y="2995017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03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033244" y="3290888"/>
            <a:ext cx="3496877" cy="25400"/>
          </a:xfrm>
          <a:prstGeom prst="rect">
            <a:avLst/>
          </a:prstGeom>
          <a:solidFill>
            <a:srgbClr val="E5E5E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8033244" y="3436144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Gamificación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8033244" y="3844826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Avatar dinámico según el volumen de entrenamiento.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61475" y="4780359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04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61475" y="5076230"/>
            <a:ext cx="5339820" cy="25400"/>
          </a:xfrm>
          <a:prstGeom prst="rect">
            <a:avLst/>
          </a:prstGeom>
          <a:solidFill>
            <a:srgbClr val="E5E5E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661475" y="5221486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Scoreboard Top 10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661475" y="5630168"/>
            <a:ext cx="53398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Clasificación en tiempo real del recinto.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190301" y="4780359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05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190301" y="5076230"/>
            <a:ext cx="5339820" cy="25400"/>
          </a:xfrm>
          <a:prstGeom prst="rect">
            <a:avLst/>
          </a:prstGeom>
          <a:solidFill>
            <a:srgbClr val="E5E5E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6190301" y="5221486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IA + Notificaciones</a:t>
            </a:r>
            <a:endParaRPr lang="en-US" sz="1850" dirty="0"/>
          </a:p>
        </p:txBody>
      </p:sp>
      <p:sp>
        <p:nvSpPr>
          <p:cNvPr id="24" name="Text 22"/>
          <p:cNvSpPr/>
          <p:nvPr/>
        </p:nvSpPr>
        <p:spPr>
          <a:xfrm>
            <a:off x="6190301" y="5630168"/>
            <a:ext cx="53398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Asistente de ejercicios y solicitud de ayuda presencial.</a:t>
            </a:r>
            <a:endParaRPr lang="en-US" sz="14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14554DD-FCD3-CB33-06E7-4952EF128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577" y="6400736"/>
            <a:ext cx="1600423" cy="4572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6951"/>
            <a:ext cx="10868745" cy="341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Metodología: SCRUM Ágil</a:t>
            </a:r>
            <a:endParaRPr lang="en-US" sz="2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077" y="994668"/>
            <a:ext cx="10489541" cy="51274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214" y="2758843"/>
            <a:ext cx="2445415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Definir PMV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894704" y="1585015"/>
            <a:ext cx="2445415" cy="30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Poker Planning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100939" y="3997885"/>
            <a:ext cx="2445415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Sprints semanales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2840750" y="5193450"/>
            <a:ext cx="2445415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Revisión y adaptación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1475" y="6193135"/>
            <a:ext cx="11478330" cy="137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Como único integrante, Mario asume el rol de </a:t>
            </a:r>
            <a:r>
              <a:rPr lang="en-US" sz="8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desarrollador full-stack</a:t>
            </a: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gestionando tanto la planificación como la ejecución del software con entregas semanales y revisiones constantes.</a:t>
            </a:r>
            <a:endParaRPr lang="en-US" sz="8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B3B5648-9934-D90D-D9D1-402A0C7CBD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577" y="6400736"/>
            <a:ext cx="1600423" cy="4572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7977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Plan de Trabajo — 15 Semanas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3429000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CECEC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1764462" y="3050977"/>
            <a:ext cx="25399" cy="378023"/>
          </a:xfrm>
          <a:prstGeom prst="roundRect">
            <a:avLst>
              <a:gd name="adj" fmla="val 50001"/>
            </a:avLst>
          </a:prstGeom>
          <a:solidFill>
            <a:srgbClr val="CECEC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1706321" y="3358158"/>
            <a:ext cx="141681" cy="141684"/>
          </a:xfrm>
          <a:prstGeom prst="ellipse">
            <a:avLst/>
          </a:prstGeom>
          <a:solidFill>
            <a:srgbClr val="E5E5E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850482" y="1848445"/>
            <a:ext cx="18534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S1–4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50482" y="2257127"/>
            <a:ext cx="185345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Documentación y diseño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2998316" y="3429000"/>
            <a:ext cx="25399" cy="378023"/>
          </a:xfrm>
          <a:prstGeom prst="roundRect">
            <a:avLst>
              <a:gd name="adj" fmla="val 50001"/>
            </a:avLst>
          </a:prstGeom>
          <a:solidFill>
            <a:srgbClr val="CECEC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2940175" y="3358158"/>
            <a:ext cx="141681" cy="141684"/>
          </a:xfrm>
          <a:prstGeom prst="ellipse">
            <a:avLst/>
          </a:prstGeom>
          <a:solidFill>
            <a:srgbClr val="E5E5E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2084335" y="3996035"/>
            <a:ext cx="18534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S5–6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2084335" y="4404717"/>
            <a:ext cx="185345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Registro y funciones básicas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232268" y="3050977"/>
            <a:ext cx="25399" cy="378023"/>
          </a:xfrm>
          <a:prstGeom prst="roundRect">
            <a:avLst>
              <a:gd name="adj" fmla="val 50001"/>
            </a:avLst>
          </a:prstGeom>
          <a:solidFill>
            <a:srgbClr val="CECEC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4174128" y="3358158"/>
            <a:ext cx="141681" cy="141684"/>
          </a:xfrm>
          <a:prstGeom prst="ellipse">
            <a:avLst/>
          </a:prstGeom>
          <a:solidFill>
            <a:srgbClr val="E5E5E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3318189" y="1848445"/>
            <a:ext cx="18535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S7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3318189" y="2257127"/>
            <a:ext cx="18535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Validación Premium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66122" y="3429000"/>
            <a:ext cx="25399" cy="378023"/>
          </a:xfrm>
          <a:prstGeom prst="roundRect">
            <a:avLst>
              <a:gd name="adj" fmla="val 50001"/>
            </a:avLst>
          </a:prstGeom>
          <a:solidFill>
            <a:srgbClr val="CECEC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5407981" y="3358158"/>
            <a:ext cx="141681" cy="141684"/>
          </a:xfrm>
          <a:prstGeom prst="ellipse">
            <a:avLst/>
          </a:prstGeom>
          <a:solidFill>
            <a:srgbClr val="E5E5E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4552042" y="3996035"/>
            <a:ext cx="18535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S8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4552042" y="4404717"/>
            <a:ext cx="18535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Registro de progreso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699975" y="3050977"/>
            <a:ext cx="25399" cy="378023"/>
          </a:xfrm>
          <a:prstGeom prst="roundRect">
            <a:avLst>
              <a:gd name="adj" fmla="val 50001"/>
            </a:avLst>
          </a:prstGeom>
          <a:solidFill>
            <a:srgbClr val="CECEC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6641835" y="3358158"/>
            <a:ext cx="141681" cy="141684"/>
          </a:xfrm>
          <a:prstGeom prst="ellipse">
            <a:avLst/>
          </a:prstGeom>
          <a:solidFill>
            <a:srgbClr val="E5E5E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5785995" y="1848445"/>
            <a:ext cx="18534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S9–11</a:t>
            </a:r>
            <a:endParaRPr lang="en-US" sz="1850" dirty="0"/>
          </a:p>
        </p:txBody>
      </p:sp>
      <p:sp>
        <p:nvSpPr>
          <p:cNvPr id="23" name="Text 21"/>
          <p:cNvSpPr/>
          <p:nvPr/>
        </p:nvSpPr>
        <p:spPr>
          <a:xfrm>
            <a:off x="5785995" y="2257127"/>
            <a:ext cx="185345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Gamificación, Avatar e IA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7933928" y="3429000"/>
            <a:ext cx="25399" cy="378023"/>
          </a:xfrm>
          <a:prstGeom prst="roundRect">
            <a:avLst>
              <a:gd name="adj" fmla="val 50001"/>
            </a:avLst>
          </a:prstGeom>
          <a:solidFill>
            <a:srgbClr val="CECEC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7875787" y="3358158"/>
            <a:ext cx="141681" cy="141684"/>
          </a:xfrm>
          <a:prstGeom prst="ellipse">
            <a:avLst/>
          </a:prstGeom>
          <a:solidFill>
            <a:srgbClr val="E5E5E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7019849" y="3996035"/>
            <a:ext cx="18535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S12–13</a:t>
            </a:r>
            <a:endParaRPr lang="en-US" sz="1850" dirty="0"/>
          </a:p>
        </p:txBody>
      </p:sp>
      <p:sp>
        <p:nvSpPr>
          <p:cNvPr id="27" name="Text 25"/>
          <p:cNvSpPr/>
          <p:nvPr/>
        </p:nvSpPr>
        <p:spPr>
          <a:xfrm>
            <a:off x="7019849" y="4404717"/>
            <a:ext cx="18535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Scoreboard Top 10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9167782" y="3050977"/>
            <a:ext cx="25399" cy="378023"/>
          </a:xfrm>
          <a:prstGeom prst="roundRect">
            <a:avLst>
              <a:gd name="adj" fmla="val 50001"/>
            </a:avLst>
          </a:prstGeom>
          <a:solidFill>
            <a:srgbClr val="CECEC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9109641" y="3358158"/>
            <a:ext cx="141681" cy="141684"/>
          </a:xfrm>
          <a:prstGeom prst="ellipse">
            <a:avLst/>
          </a:prstGeom>
          <a:solidFill>
            <a:srgbClr val="E5E5E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0" name="Text 28"/>
          <p:cNvSpPr/>
          <p:nvPr/>
        </p:nvSpPr>
        <p:spPr>
          <a:xfrm>
            <a:off x="8253702" y="1848445"/>
            <a:ext cx="18535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S14</a:t>
            </a:r>
            <a:endParaRPr lang="en-US" sz="1850" dirty="0"/>
          </a:p>
        </p:txBody>
      </p:sp>
      <p:sp>
        <p:nvSpPr>
          <p:cNvPr id="31" name="Text 29"/>
          <p:cNvSpPr/>
          <p:nvPr/>
        </p:nvSpPr>
        <p:spPr>
          <a:xfrm>
            <a:off x="8253702" y="2257127"/>
            <a:ext cx="185355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Botón de ayuda presencial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10401635" y="3429000"/>
            <a:ext cx="25399" cy="378023"/>
          </a:xfrm>
          <a:prstGeom prst="roundRect">
            <a:avLst>
              <a:gd name="adj" fmla="val 50001"/>
            </a:avLst>
          </a:prstGeom>
          <a:solidFill>
            <a:srgbClr val="CECEC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3" name="Shape 31"/>
          <p:cNvSpPr/>
          <p:nvPr/>
        </p:nvSpPr>
        <p:spPr>
          <a:xfrm>
            <a:off x="10343494" y="3358158"/>
            <a:ext cx="141681" cy="141684"/>
          </a:xfrm>
          <a:prstGeom prst="ellipse">
            <a:avLst/>
          </a:prstGeom>
          <a:solidFill>
            <a:srgbClr val="E5E5E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/>
          <p:nvPr/>
        </p:nvSpPr>
        <p:spPr>
          <a:xfrm>
            <a:off x="9487655" y="3996035"/>
            <a:ext cx="18534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S15</a:t>
            </a:r>
            <a:endParaRPr lang="en-US" sz="1850" dirty="0"/>
          </a:p>
        </p:txBody>
      </p:sp>
      <p:sp>
        <p:nvSpPr>
          <p:cNvPr id="35" name="Text 33"/>
          <p:cNvSpPr/>
          <p:nvPr/>
        </p:nvSpPr>
        <p:spPr>
          <a:xfrm>
            <a:off x="9487655" y="4404717"/>
            <a:ext cx="185345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de certificación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661475" y="5222180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E8E8E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5489873"/>
            <a:ext cx="236234" cy="189012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1275723" y="5458420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Evidencias:</a:t>
            </a:r>
            <a:r>
              <a:rPr lang="en-US" sz="14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Prototipo navegable con storyboard del PMV + Aplicación móvil instalable con modelo de datos funcional.</a:t>
            </a:r>
            <a:endParaRPr lang="en-US" sz="145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D084CBB-AAB3-5B65-6A82-8725D7D7B6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577" y="6400736"/>
            <a:ext cx="1600423" cy="4572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084461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Conclusión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1958578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PonteChetado no es solo un proyecto académico: es la demostración de que un ingeniero en informática puede </a:t>
            </a:r>
            <a:r>
              <a:rPr lang="en-US" sz="14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transformar un problema real en un producto tecnológico completo</a:t>
            </a: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3078460"/>
            <a:ext cx="3053877" cy="1404243"/>
          </a:xfrm>
          <a:prstGeom prst="roundRect">
            <a:avLst>
              <a:gd name="adj" fmla="val 5653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5428717" y="3273822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Para el gimnasio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428717" y="3682504"/>
            <a:ext cx="26631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Imagen más premium y mayor fidelización de clientes.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476244" y="3078460"/>
            <a:ext cx="3053976" cy="1404243"/>
          </a:xfrm>
          <a:prstGeom prst="roundRect">
            <a:avLst>
              <a:gd name="adj" fmla="val 5653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/>
          <p:nvPr/>
        </p:nvSpPr>
        <p:spPr>
          <a:xfrm>
            <a:off x="8671601" y="3273822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Para los entrenadores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671601" y="3682504"/>
            <a:ext cx="266326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Menor carga de trabajo con la IA y el botón de asistencia.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233360" y="4671715"/>
            <a:ext cx="6296860" cy="1101824"/>
          </a:xfrm>
          <a:prstGeom prst="roundRect">
            <a:avLst>
              <a:gd name="adj" fmla="val 7205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5428717" y="4867077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Para el usuario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5428717" y="5275759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Entrena con las mejores rutinas sin necesidad de conocimientos previos.</a:t>
            </a:r>
            <a:endParaRPr lang="en-US" sz="14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482272E-78A2-9B61-75C4-83174F6632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577" y="6400736"/>
            <a:ext cx="1600423" cy="4572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593</Words>
  <Application>Microsoft Office PowerPoint</Application>
  <PresentationFormat>Widescreen</PresentationFormat>
  <Paragraphs>107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Lato Bold</vt:lpstr>
      <vt:lpstr>Lato</vt:lpstr>
      <vt:lpstr>Gelasio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MARIO JAVIER TORRES MUÑOZ</cp:lastModifiedBy>
  <cp:revision>2</cp:revision>
  <dcterms:created xsi:type="dcterms:W3CDTF">2026-08-31T07:53:33Z</dcterms:created>
  <dcterms:modified xsi:type="dcterms:W3CDTF">2026-08-31T07:54:36Z</dcterms:modified>
</cp:coreProperties>
</file>